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72" r:id="rId4"/>
    <p:sldId id="270" r:id="rId5"/>
    <p:sldId id="271" r:id="rId6"/>
    <p:sldId id="257" r:id="rId7"/>
    <p:sldId id="268" r:id="rId8"/>
    <p:sldId id="259" r:id="rId9"/>
    <p:sldId id="260" r:id="rId10"/>
    <p:sldId id="261" r:id="rId11"/>
    <p:sldId id="274" r:id="rId24"/>
    <p:sldId id="273" r:id="rId23"/>
    <p:sldId id="275" r:id="rId25"/>
    <p:sldId id="276" r:id="rId26"/>
    <p:sldId id="263" r:id="rId12"/>
    <p:sldId id="262" r:id="rId13"/>
    <p:sldId id="267" r:id="rId15"/>
    <p:sldId id="264" r:id="rId16"/>
    <p:sldId id="26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B3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74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40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70556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11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0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91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24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067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8" Type="http://schemas.openxmlformats.org/officeDocument/2006/relationships/image" Target="../media/phone_step3.png"/><Relationship Id="rId3" Type="http://schemas.openxmlformats.org/officeDocument/2006/relationships/image" Target="../media/image30.png"/><Relationship Id="rId7" Type="http://schemas.openxmlformats.org/officeDocument/2006/relationships/image" Target="../media/phone_step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phone_step1.png"/><Relationship Id="rId4" Type="http://schemas.openxmlformats.org/officeDocument/2006/relationships/image" Target="../media/image31.png"/><Relationship Id="rId9" Type="http://schemas.openxmlformats.org/officeDocument/2006/relationships/image" Target="../media/phone_step6.png"/></Relationships>
</file>

<file path=ppt/slides/_rels/slide20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274320" cy="274320"/>
          </a:xfrm>
          <a:prstGeom prst="ellips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solidFill>
                  <a:srgbClr val="E8C88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PROPOSAL · 2026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CHON</a:t>
            </a:r>
            <a:r>
              <a:rPr lang="en-US" sz="56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-</a:t>
            </a:r>
            <a:r>
              <a:rPr lang="en-US" sz="56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DID </a:t>
            </a:r>
            <a:r>
              <a:rPr lang="ko-KR" altLang="en-US" sz="56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개선 방안</a:t>
            </a:r>
            <a:r>
              <a:rPr lang="en-US" sz="56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 </a:t>
            </a:r>
            <a:endParaRPr lang="en-US" sz="5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dirty="0" smtClean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운영과 유저 모집을 위한 방향성 제안</a:t>
            </a:r>
            <a:r>
              <a:rPr lang="en-US" sz="2200" dirty="0" smtClean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 (</a:t>
            </a:r>
            <a:r>
              <a:rPr lang="en-US" altLang="ko-KR" sz="2200" dirty="0" smtClean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OPS </a:t>
            </a:r>
            <a:r>
              <a:rPr lang="en-US" altLang="ko-KR" sz="2200" dirty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&amp; User </a:t>
            </a:r>
            <a:r>
              <a:rPr lang="en-US" altLang="ko-KR" sz="2200" dirty="0" smtClean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Acquisition)</a:t>
            </a:r>
            <a:r>
              <a:rPr lang="en-US" sz="2200" dirty="0" smtClean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 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1371600" cy="36576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54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01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4754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lang="ko-KR" altLang="en-US" sz="1300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 가입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81591" y="47435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02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86000" y="47435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연락처 자동 노출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70588" y="47435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03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80663" y="47435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관계설정 기능과 인증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76886" y="47435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04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85984" y="47435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300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Group Sorting</a:t>
            </a:r>
            <a:r>
              <a:rPr lang="ko-KR" altLang="en-US" sz="1300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 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10780" y="47587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05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67553" y="47587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그룹 신분증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kern="0" spc="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CHON DID — TRUSTED RELATIONSHIPS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8440342" y="475286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smtClean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06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8754508" y="4775722"/>
            <a:ext cx="21023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altLang="ko-KR" sz="1300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Node visualization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2215458"/>
            <a:ext cx="3480435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5261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우선 과제 01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67265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앱 사용 불편함 제거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175578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타겟·조작·신호 영역의 사용성 문제를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구조적으로 해소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39615" y="2215458"/>
            <a:ext cx="3975735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9615" y="235261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우선 과제 02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39615" y="267265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유저 모집 핵심 기능 개발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39615" y="3175578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캐주얼 사용자 확보를 위한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인력망 기반 서비스 구축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00</a:t>
            </a:r>
            <a:endParaRPr lang="en-US" sz="4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CHON-DID </a:t>
            </a:r>
            <a:r>
              <a:rPr lang="ko-KR" altLang="en-US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개선 방향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1417320" y="14859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본격 운영을 위한 사전 </a:t>
            </a:r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준비 </a:t>
            </a:r>
            <a:r>
              <a:rPr lang="en-US" altLang="ko-KR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– </a:t>
            </a:r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불편 요소 제거 및 유저 모집을 위한 제품 경쟁력 강화 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48640" y="3952818"/>
            <a:ext cx="3480435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5"/>
          <p:cNvSpPr/>
          <p:nvPr/>
        </p:nvSpPr>
        <p:spPr>
          <a:xfrm>
            <a:off x="548640" y="408997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 smtClean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 xml:space="preserve"> </a:t>
            </a:r>
            <a:r>
              <a:rPr lang="en-US" sz="1000" b="1" kern="0" spc="400" dirty="0" err="1" smtClean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과제</a:t>
            </a:r>
            <a:r>
              <a:rPr lang="en-US" sz="1000" b="1" kern="0" spc="400" dirty="0" smtClean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 xml:space="preserve"> </a:t>
            </a:r>
            <a:r>
              <a:rPr lang="en-US" sz="1000" b="1" kern="0" spc="4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01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6"/>
          <p:cNvSpPr/>
          <p:nvPr/>
        </p:nvSpPr>
        <p:spPr>
          <a:xfrm>
            <a:off x="548640" y="441001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사용자 정의 필요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7"/>
          <p:cNvSpPr/>
          <p:nvPr/>
        </p:nvSpPr>
        <p:spPr>
          <a:xfrm>
            <a:off x="548640" y="4912938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상호 인증을 기반으로 한 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DID </a:t>
            </a:r>
            <a:r>
              <a:rPr lang="ko-KR" altLang="en-US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인 만큼 </a:t>
            </a:r>
            <a:endParaRPr lang="en-US" altLang="ko-KR" sz="1300" dirty="0" smtClean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기존 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DID </a:t>
            </a:r>
            <a:r>
              <a:rPr lang="ko-KR" altLang="en-US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업체들과는 다른 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Soft</a:t>
            </a:r>
            <a:r>
              <a:rPr lang="ko-KR" altLang="en-US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한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ko-KR" altLang="en-US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이용 방식 제공 필요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/>
            </a:r>
            <a:b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[</a:t>
            </a:r>
            <a:r>
              <a:rPr lang="ko-KR" altLang="en-US" sz="1300" b="1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참조</a:t>
            </a:r>
            <a:r>
              <a:rPr lang="en-US" altLang="ko-KR" sz="1300" b="1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] </a:t>
            </a:r>
            <a:r>
              <a:rPr lang="ko-KR" altLang="en-US" sz="1300" b="1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한국 </a:t>
            </a:r>
            <a:r>
              <a:rPr lang="en-US" altLang="ko-KR" sz="1300" b="1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DID </a:t>
            </a:r>
            <a:r>
              <a:rPr lang="ko-KR" altLang="en-US" sz="1300" b="1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시장 경쟁자 분석 </a:t>
            </a:r>
            <a:endParaRPr lang="en-US" sz="13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Shape 8"/>
          <p:cNvSpPr/>
          <p:nvPr/>
        </p:nvSpPr>
        <p:spPr>
          <a:xfrm flipV="1">
            <a:off x="4539615" y="3907098"/>
            <a:ext cx="3975735" cy="4572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9"/>
          <p:cNvSpPr/>
          <p:nvPr/>
        </p:nvSpPr>
        <p:spPr>
          <a:xfrm>
            <a:off x="4539615" y="408997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 err="1" smtClean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과제</a:t>
            </a:r>
            <a:r>
              <a:rPr lang="en-US" sz="1000" b="1" kern="0" spc="400" dirty="0" smtClean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 xml:space="preserve"> </a:t>
            </a:r>
            <a:r>
              <a:rPr lang="en-US" sz="1000" b="1" kern="0" spc="4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02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4539615" y="441001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 err="1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브랜딩</a:t>
            </a:r>
            <a:r>
              <a:rPr lang="ko-KR" altLang="en-US" sz="22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마케팅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4539615" y="4912938"/>
            <a:ext cx="4118610" cy="91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핵심 시장 제품 </a:t>
            </a:r>
            <a:r>
              <a:rPr lang="ko-KR" altLang="en-US" sz="1300" dirty="0" err="1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포지셔닝</a:t>
            </a:r>
            <a:r>
              <a:rPr lang="ko-KR" altLang="en-US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분석 필요</a:t>
            </a:r>
            <a:endParaRPr lang="en-US" altLang="ko-KR" sz="1300" dirty="0" smtClean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CHON_DID</a:t>
            </a:r>
            <a:r>
              <a:rPr lang="ko-KR" altLang="en-US" sz="130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는 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Core technology ? or </a:t>
            </a:r>
            <a:r>
              <a:rPr lang="ko-KR" altLang="en-US" sz="130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Main Product?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</a:t>
            </a:r>
            <a:r>
              <a:rPr lang="ko-KR" altLang="en-US" sz="130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비즈니스 모델에 대한 고민이 필요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)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</a:p>
        </p:txBody>
      </p:sp>
      <p:sp>
        <p:nvSpPr>
          <p:cNvPr id="26" name="Text 11"/>
          <p:cNvSpPr/>
          <p:nvPr/>
        </p:nvSpPr>
        <p:spPr>
          <a:xfrm>
            <a:off x="8976360" y="2158307"/>
            <a:ext cx="2803855" cy="3966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  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CHON-DID (</a:t>
            </a:r>
            <a:r>
              <a:rPr lang="ko-KR" altLang="en-US" sz="130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내부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ko-KR" altLang="en-US" sz="130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포함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)</a:t>
            </a:r>
            <a:b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[ Anti-Voice 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hacking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]</a:t>
            </a:r>
            <a:b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[ 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Company ORG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]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[Healthcare(HDEP)]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/>
            </a:r>
            <a:b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/>
            </a:r>
            <a:b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 CHON-Fandom(</a:t>
            </a:r>
            <a:r>
              <a:rPr lang="ko-KR" altLang="en-US" sz="130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별도 앱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) </a:t>
            </a:r>
            <a:endParaRPr lang="en-US" altLang="ko-KR" sz="1300" dirty="0" smtClean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3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 </a:t>
            </a:r>
            <a:b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endParaRPr lang="en-US" altLang="ko-KR" sz="1300" dirty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altLang="ko-KR" sz="1300" dirty="0" smtClean="0">
              <a:solidFill>
                <a:srgbClr val="6B72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3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60" y="1582292"/>
            <a:ext cx="1882140" cy="56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2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502921" y="1329499"/>
            <a:ext cx="11185855" cy="35299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ts val="1680"/>
              </a:lnSpc>
            </a:pPr>
            <a:endParaRPr lang="en-US" sz="1400" dirty="0">
              <a:solidFill>
                <a:srgbClr val="47556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 (MS)"/>
              <a:sym typeface="Calibri (MS)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141523"/>
              </p:ext>
            </p:extLst>
          </p:nvPr>
        </p:nvGraphicFramePr>
        <p:xfrm>
          <a:off x="502920" y="2057400"/>
          <a:ext cx="11150600" cy="3710349"/>
        </p:xfrm>
        <a:graphic>
          <a:graphicData uri="http://schemas.openxmlformats.org/drawingml/2006/table">
            <a:tbl>
              <a:tblPr/>
              <a:tblGrid>
                <a:gridCol w="2100129"/>
                <a:gridCol w="2547791"/>
                <a:gridCol w="3565321"/>
                <a:gridCol w="2937359"/>
              </a:tblGrid>
              <a:tr h="584187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 dirty="0" err="1">
                          <a:solidFill>
                            <a:srgbClr val="1E293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사업자</a:t>
                      </a:r>
                      <a:endParaRPr lang="en-US" sz="700" dirty="0"/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1E293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솔루션</a:t>
                      </a:r>
                      <a:endParaRPr lang="en-US" sz="700"/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1E293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접근 방식</a:t>
                      </a:r>
                      <a:endParaRPr lang="en-US" sz="700"/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1E293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한계</a:t>
                      </a:r>
                      <a:endParaRPr lang="en-US" sz="700"/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16681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 Bold"/>
                          <a:sym typeface="Calibri (MS) Bold"/>
                        </a:rPr>
                        <a:t>라온시큐어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옴니원 (OmniOne)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정부·금융 KYC 중심 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(행안부 모바일 신분증)</a:t>
                      </a: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관계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데이터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부재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, B2G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의존도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높음</a:t>
                      </a:r>
                      <a:endParaRPr lang="en-US" sz="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6681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 Bold"/>
                          <a:sym typeface="Calibri (MS) Bold"/>
                        </a:rPr>
                        <a:t>아이콘루프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마이아이디 (MyID)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은행·기업 얼라이언스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발급기관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중심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Top-down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구조</a:t>
                      </a:r>
                      <a:endParaRPr lang="en-US" sz="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187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 Bold"/>
                          <a:sym typeface="Calibri (MS) Bold"/>
                        </a:rPr>
                        <a:t>SK텔레콤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이니셜 (Initial) DID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통신3사 PASS 기반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통신사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중심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구조</a:t>
                      </a:r>
                      <a:endParaRPr lang="en-US" sz="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187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 Bold"/>
                          <a:sym typeface="Calibri (MS) Bold"/>
                        </a:rPr>
                        <a:t>드림시큐리티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매직DID</a:t>
                      </a:r>
                      <a:endParaRPr lang="en-US" sz="7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400" dirty="0" err="1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공공·금융</a:t>
                      </a: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</a:t>
                      </a:r>
                      <a:r>
                        <a:rPr lang="en-US" sz="1400" dirty="0" err="1">
                          <a:solidFill>
                            <a:srgbClr val="1E2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인증</a:t>
                      </a:r>
                      <a:endParaRPr lang="en-US" sz="7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차별화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요소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 xml:space="preserve"> </a:t>
                      </a:r>
                      <a:r>
                        <a:rPr lang="en-US" sz="1200" dirty="0" err="1">
                          <a:solidFill>
                            <a:srgbClr val="47556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 (MS)"/>
                          <a:sym typeface="Calibri (MS)"/>
                        </a:rPr>
                        <a:t>부족</a:t>
                      </a:r>
                      <a:endParaRPr lang="en-US" sz="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187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CHON_DID</a:t>
                      </a:r>
                      <a:endParaRPr lang="en-US" sz="700"/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관계 기반 Web of Trust</a:t>
                      </a:r>
                      <a:endParaRPr lang="en-US" sz="700"/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Bottom-up + 종중 시작 시장</a:t>
                      </a:r>
                      <a:endParaRPr lang="en-US" sz="700"/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endParaRPr lang="en-US" sz="700" dirty="0"/>
                    </a:p>
                  </a:txBody>
                  <a:tcPr marL="60960" marR="6096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502921" y="5974461"/>
            <a:ext cx="11185855" cy="563499"/>
            <a:chOff x="0" y="-304038"/>
            <a:chExt cx="22371710" cy="112699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71710" cy="822960"/>
            </a:xfrm>
            <a:custGeom>
              <a:avLst/>
              <a:gdLst/>
              <a:ahLst/>
              <a:cxnLst/>
              <a:rect l="l" t="t" r="r" b="b"/>
              <a:pathLst>
                <a:path w="22371710" h="822960">
                  <a:moveTo>
                    <a:pt x="0" y="0"/>
                  </a:moveTo>
                  <a:lnTo>
                    <a:pt x="22371710" y="0"/>
                  </a:lnTo>
                  <a:lnTo>
                    <a:pt x="2237171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9689" b="-47968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304038"/>
              <a:ext cx="2237171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 dirty="0" err="1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 Bold"/>
                  <a:sym typeface="Calibri (MS) Bold"/>
                </a:rPr>
                <a:t>요약</a:t>
              </a:r>
              <a:r>
                <a:rPr lang="en-US" sz="12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 Bold"/>
                  <a:sym typeface="Calibri (MS) Bold"/>
                </a:rPr>
                <a:t xml:space="preserve">:  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기존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 xml:space="preserve"> 4사 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모두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 xml:space="preserve"> 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발급기관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(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국가·은행·통신사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)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에서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 xml:space="preserve"> 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시작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 xml:space="preserve">. 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CHON만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 xml:space="preserve"> 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사용자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(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가족·관계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)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에서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 xml:space="preserve"> 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시작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 xml:space="preserve"> — 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진입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 xml:space="preserve"> </a:t>
              </a:r>
              <a:r>
                <a:rPr lang="en-US" sz="1200" dirty="0" err="1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시장</a:t>
              </a:r>
              <a:r>
                <a:rPr lang="en-US" sz="1200" dirty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 xml:space="preserve"> </a:t>
              </a:r>
              <a:r>
                <a:rPr lang="ko-KR" altLang="en-US" sz="1200" dirty="0" smtClean="0">
                  <a:solidFill>
                    <a:srgbClr val="475569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(MS)"/>
                  <a:sym typeface="Calibri (MS)"/>
                </a:rPr>
                <a:t>의 차이점</a:t>
              </a:r>
              <a:endParaRPr lang="en-US" sz="12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(MS)"/>
                <a:sym typeface="Calibri (MS)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774375" y="6473952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0" y="0"/>
                </a:moveTo>
                <a:lnTo>
                  <a:pt x="1828800" y="0"/>
                </a:lnTo>
                <a:lnTo>
                  <a:pt x="1828800" y="457200"/>
                </a:lnTo>
                <a:lnTo>
                  <a:pt x="0" y="45720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7940" b="-27940"/>
            </a:stretch>
          </a:blipFill>
        </p:spPr>
      </p:sp>
      <p:sp>
        <p:nvSpPr>
          <p:cNvPr id="21" name="Text 0"/>
          <p:cNvSpPr/>
          <p:nvPr/>
        </p:nvSpPr>
        <p:spPr>
          <a:xfrm>
            <a:off x="457200" y="821266"/>
            <a:ext cx="914400" cy="41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400" b="1" dirty="0" smtClean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참조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한국 </a:t>
            </a:r>
            <a:r>
              <a:rPr lang="en-US" altLang="ko-KR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DID </a:t>
            </a:r>
            <a:r>
              <a:rPr lang="ko-KR" alt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시장 </a:t>
            </a:r>
            <a:r>
              <a:rPr lang="en-US" altLang="ko-KR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— Bottom-up </a:t>
            </a:r>
            <a:r>
              <a:rPr lang="ko-KR" alt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접근의 </a:t>
            </a:r>
            <a:r>
              <a:rPr lang="ko-KR" altLang="en-US" sz="2800" b="1" dirty="0" err="1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차별점</a:t>
            </a:r>
            <a:endParaRPr lang="ko-KR" altLang="en-US" sz="2800" b="1" dirty="0">
              <a:solidFill>
                <a:srgbClr val="1E276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24" name="Text 3"/>
          <p:cNvSpPr/>
          <p:nvPr/>
        </p:nvSpPr>
        <p:spPr>
          <a:xfrm>
            <a:off x="1417320" y="14859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DID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사 모두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Top-down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방식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CHON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은 관계 기반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Bottom-up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진입</a:t>
            </a:r>
            <a:r>
              <a:rPr lang="en-US" altLang="ko-KR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4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 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497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65760" y="2331720"/>
            <a:ext cx="365760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317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C7CDD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이미지 영역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460736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모호한 타겟 유저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 smtClean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가계도 비중을 줄이고 사용법 확대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59681" y="2331720"/>
            <a:ext cx="365760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9681" y="23317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C7CDD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이미지 영역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5196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02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5196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극단의 조작 복잡성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5196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사용자를 일일이 수동 연결해야 하는 구조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365760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3317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C7CDD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이미지 영역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64113" y="461771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03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3816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비동기식 신호 처리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3816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양측 인증 정보가 동기화되지 않음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806443"/>
            <a:ext cx="1106424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89788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결과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17320" y="5897883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일반 주소록보다 더 불편한 사용성 — 사용자 이탈의 직접 원인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0"/>
          <p:cNvSpPr/>
          <p:nvPr/>
        </p:nvSpPr>
        <p:spPr>
          <a:xfrm>
            <a:off x="469277" y="636198"/>
            <a:ext cx="17252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AS IS</a:t>
            </a:r>
            <a:endParaRPr lang="en-US" sz="44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"/>
          <p:cNvSpPr/>
          <p:nvPr/>
        </p:nvSpPr>
        <p:spPr>
          <a:xfrm>
            <a:off x="2822789" y="502920"/>
            <a:ext cx="5315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기존 </a:t>
            </a:r>
            <a:r>
              <a:rPr lang="en-US" altLang="ko-KR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CHON- DID </a:t>
            </a:r>
            <a:r>
              <a:rPr lang="ko-KR" altLang="en-US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핵심 문제점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27" name="Text 3"/>
          <p:cNvSpPr/>
          <p:nvPr/>
        </p:nvSpPr>
        <p:spPr>
          <a:xfrm>
            <a:off x="1417320" y="14859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타겟</a:t>
            </a:r>
            <a:r>
              <a:rPr lang="en-US" altLang="ko-KR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en-US" altLang="ko-KR" sz="14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모호</a:t>
            </a:r>
            <a:r>
              <a:rPr lang="en-US" altLang="ko-KR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· </a:t>
            </a:r>
            <a:r>
              <a:rPr lang="en-US" altLang="ko-KR" sz="14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조작</a:t>
            </a:r>
            <a:r>
              <a:rPr lang="en-US" altLang="ko-KR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en-US" altLang="ko-KR" sz="14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복잡</a:t>
            </a:r>
            <a:r>
              <a:rPr lang="en-US" altLang="ko-KR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· </a:t>
            </a:r>
            <a:r>
              <a:rPr lang="en-US" altLang="ko-KR" sz="14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신호</a:t>
            </a:r>
            <a:r>
              <a:rPr lang="en-US" altLang="ko-KR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en-US" altLang="ko-KR" sz="14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비동기</a:t>
            </a:r>
            <a:r>
              <a:rPr lang="en-US" altLang="ko-KR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— </a:t>
            </a:r>
            <a:r>
              <a:rPr lang="en-US" altLang="ko-KR" sz="14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주소록보다도</a:t>
            </a:r>
            <a:r>
              <a:rPr lang="en-US" altLang="ko-KR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en-US" altLang="ko-KR" sz="14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불편한</a:t>
            </a:r>
            <a:r>
              <a:rPr lang="en-US" altLang="ko-KR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en-US" altLang="ko-KR" sz="140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사용성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275" y="2346116"/>
            <a:ext cx="977645" cy="217254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005" y="2346116"/>
            <a:ext cx="973454" cy="216323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2580" y="2202998"/>
            <a:ext cx="1215581" cy="230325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635" y="2337649"/>
            <a:ext cx="787391" cy="1997284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5716" y="2320504"/>
            <a:ext cx="828621" cy="2011681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7401" y="2334201"/>
            <a:ext cx="960359" cy="2051471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6386" y="2324818"/>
            <a:ext cx="918493" cy="2107613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5564" y="2354583"/>
            <a:ext cx="888776" cy="2005751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1174" y="2334201"/>
            <a:ext cx="1060311" cy="2042801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3073" y="2334760"/>
            <a:ext cx="892995" cy="2025574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8702" y="2341279"/>
            <a:ext cx="941577" cy="20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4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558594" y="570120"/>
            <a:ext cx="78707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개선 방향 — 캐주얼·간편·실시간으로 전환</a:t>
            </a:r>
            <a:endParaRPr lang="en-US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064163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28755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01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91640" y="224704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타겟 재정의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91640" y="2475643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타겟 유저를 보다 </a:t>
            </a:r>
            <a:r>
              <a:rPr lang="en-US" sz="1600" b="1" dirty="0" err="1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캐주얼하게</a:t>
            </a: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ko-KR" altLang="en-US" sz="1600" b="1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사용법과 확장성 추가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91640" y="284140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AS-IS  모호한 타겟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52160" y="284140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3640" y="284140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TO-BE  명확한 캐주얼 사용자층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344323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08915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02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91640" y="352720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서비스 확장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91640" y="3755803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연결된 인력망 기반의 다양한 서비스 추가 및 조작성 개선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91640" y="412156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AS-IS  1:1 수동 연결, 단일 기능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52160" y="412156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412156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TO-BE  네트워크 기반 다중 서비스, </a:t>
            </a:r>
            <a:r>
              <a:rPr lang="en-US" sz="1100" b="1" dirty="0" err="1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간편</a:t>
            </a:r>
            <a:r>
              <a:rPr lang="en-US" sz="1100" b="1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en-US" sz="1100" b="1" dirty="0" err="1" smtClean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조작</a:t>
            </a:r>
            <a:r>
              <a:rPr lang="en-US" sz="1100" b="1" dirty="0" smtClean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, </a:t>
            </a:r>
            <a:r>
              <a:rPr lang="ko-KR" altLang="en-US" sz="1100" b="1" smtClean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다중 간편 인증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624483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89075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03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91640" y="480736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신호 전환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91640" y="5035963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신호를 기존 비동기식에서 동기식으로 전환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91640" y="540172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AS-IS  비동기, 양측 인증 정보 불일치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52160" y="540172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63640" y="540172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TO-BE  동기, 양측 정보 실시간 일치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5767483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950363"/>
            <a:ext cx="1106424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04180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기대 효과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691640" y="6041803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주소록 대비 명확한 차별화 — 캐주얼 사용자를 위한 실시간 인력망 플랫폼으로 포지셔닝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0"/>
          <p:cNvSpPr/>
          <p:nvPr/>
        </p:nvSpPr>
        <p:spPr>
          <a:xfrm>
            <a:off x="457199" y="411480"/>
            <a:ext cx="21824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53B3A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TO BE</a:t>
            </a:r>
            <a:endParaRPr lang="en-US" sz="4400" dirty="0">
              <a:solidFill>
                <a:srgbClr val="53B3A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34" name="Text 3"/>
          <p:cNvSpPr/>
          <p:nvPr/>
        </p:nvSpPr>
        <p:spPr>
          <a:xfrm>
            <a:off x="1417320" y="14859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타겟</a:t>
            </a: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ko-KR" alt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재정의</a:t>
            </a:r>
            <a:r>
              <a:rPr lang="en-US" altLang="ko-KR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, </a:t>
            </a:r>
            <a:r>
              <a:rPr lang="ko-KR" altLang="en-US" sz="1400" dirty="0" err="1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인력망</a:t>
            </a:r>
            <a:r>
              <a:rPr lang="ko-KR" alt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기반 서비스 확장</a:t>
            </a:r>
            <a:r>
              <a:rPr lang="en-US" altLang="ko-KR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, </a:t>
            </a:r>
            <a:r>
              <a:rPr lang="ko-KR" altLang="en-US" sz="1400" dirty="0" err="1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동기식</a:t>
            </a:r>
            <a:r>
              <a:rPr lang="ko-KR" alt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신호 </a:t>
            </a: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전환</a:t>
            </a:r>
            <a:endParaRPr lang="ko-KR" altLang="en-US" sz="1400" dirty="0">
              <a:solidFill>
                <a:srgbClr val="64748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090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01</a:t>
            </a:r>
            <a:endParaRPr lang="en-US" sz="4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다섯 가지 개선 방향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4859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진입 단순화부터 신뢰 그룹 형성까지, 사용자 여정 전반의 5가지 핵심 변화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30876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3544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01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0" y="350518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733789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1613" y="4382327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Signup </a:t>
            </a:r>
            <a:r>
              <a:rPr lang="en-US" sz="15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· </a:t>
            </a:r>
            <a:r>
              <a:rPr 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Login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1613" y="4854764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전화번호 + SMS 승인 코드로 단순화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2단계 가입·로그인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734056" y="335448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43784" y="33544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02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374136" y="350518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3733789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08469" y="4382327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연락처 기반 이용자 자동 편입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924014" y="4861526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초기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관계망 </a:t>
            </a:r>
            <a:r>
              <a:rPr lang="en-US" sz="1100" dirty="0" err="1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즉시</a:t>
            </a: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1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확보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b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b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자동 편입 인원 대상 편리한 </a:t>
            </a:r>
            <a:endParaRPr lang="en-US" altLang="ko-KR" sz="1100" dirty="0" smtClean="0">
              <a:solidFill>
                <a:srgbClr val="64748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인증 요청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010912" y="335448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54473" y="337185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03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650992" y="350518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3733789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85325" y="4382327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관계 매트릭스에 의거한 관계 인증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185325" y="4930967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관계 요청 → 승인/재조정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양측 합의 시 인증 완료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7287768" y="335448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70648" y="3382292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04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7927848" y="350518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179229" y="5459292"/>
            <a:ext cx="1792224" cy="46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가계도 · 회사 · 학교 등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도메인별 서열·소속 구조화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9576511" y="335448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720072" y="3401509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05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10209276" y="355090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3716595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62181" y="4365133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그룹 신분증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7462181" y="4913773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상호 인증된 멤버 그룹방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역할별 신분증 자동 발급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촌 DID 개발 개선안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7876" y="3751276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47597" y="4459083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Group</a:t>
            </a:r>
            <a:r>
              <a:rPr lang="ko-KR" alt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 </a:t>
            </a:r>
            <a:r>
              <a:rPr lang="en-US" altLang="ko-KR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Relation diagram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9690521" y="4974433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인증된 인원들의 관계 </a:t>
            </a:r>
            <a:r>
              <a:rPr lang="ko-KR" altLang="en-US" sz="11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다이아그램과</a:t>
            </a: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 이를 활용한 다양한 제품 경쟁력 구축  </a:t>
            </a:r>
            <a:endParaRPr lang="en-US" altLang="ko-KR" sz="1100" dirty="0" smtClean="0">
              <a:solidFill>
                <a:srgbClr val="64748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7449989" y="5379426"/>
            <a:ext cx="1792224" cy="30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QR </a:t>
            </a: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코드로 등록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02</a:t>
            </a:r>
            <a:endParaRPr lang="en-US" sz="4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Sign-up · Log-in 시스템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508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비밀번호 없는 2단계 인증으로 진입 장벽 최소화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19456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606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C88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Step 1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3456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전화번호 입력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 rot="5400000">
            <a:off x="2880360" y="2999232"/>
            <a:ext cx="320040" cy="219456"/>
          </a:xfrm>
          <a:prstGeom prst="rtTriangl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2377440"/>
            <a:ext cx="219456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6060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C88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Step 2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337560" y="3456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SMS 승인 코드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 rot="5400000">
            <a:off x="5486400" y="2999232"/>
            <a:ext cx="320040" cy="219456"/>
          </a:xfrm>
          <a:prstGeom prst="rtTriangl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52160" y="2377440"/>
            <a:ext cx="2194560" cy="146304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6060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C88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Done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943600" y="3456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로그인 완료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400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주요 사양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40080" y="45720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코드 6자리 숫자 · 유효 3분 · 재발송 30초 쿨다운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동일 디바이스 재접속 시 토큰 기반 자동 로그인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비밀번호 미사용 → 분실·재설정 부담 제거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772400" y="2377440"/>
            <a:ext cx="3657600" cy="3840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0" y="2377440"/>
            <a:ext cx="73152" cy="384048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467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기존 대비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046720" y="2880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2</a:t>
            </a:r>
            <a:endParaRPr lang="en-US" sz="1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93268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400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STEPS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932688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단계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804672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 단축된 가입 절차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046720" y="48920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이메일 인증·비밀번호 설정·약관 동의를 SMS 코드 한 단계로 통합. 모바일 환경에서의 가입 이탈률을 크게 낮춥니다.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촌 DID 개발 개선안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983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03</a:t>
            </a:r>
            <a:endParaRPr lang="en-US" sz="4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DB 구성: 6개 핵심 테이블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508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인증·관계·그룹·매트릭스를 분리한 정규화 스키마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Users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7160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가입자 기본 정보 및 인증 상태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3429000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user_id, phone, name, status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70248" y="2194560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70248" y="2194560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4688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84648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AuthCodes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184648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SMS 승인 코드 발급·만료 관리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544568" y="3429000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36008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code_id, phone, code, expires_at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083296" y="2194560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83296" y="2194560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46888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97696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Relations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997696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사용자 간 관계와 인증 상태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357616" y="3429000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49056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rel_id, from, to, type, status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457200" y="4224528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7200" y="4224528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98848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4453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Matrix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1371600" y="4864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도메인별 서열·소속·세대 데이터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731520" y="5458968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2960" y="5458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matrix_id, user_id, category, rank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4270248" y="4224528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270248" y="4224528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568" y="4498848"/>
            <a:ext cx="502920" cy="5029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84648" y="4453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Groups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5184648" y="4864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상호 인증으로 형성된 그룹방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4544568" y="5458968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636008" y="5458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group_id, name, type, owner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8083296" y="4224528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083296" y="4224528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4498848"/>
            <a:ext cx="502920" cy="5029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997696" y="4453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GroupIDs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8997696" y="4864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그룹방 신분증(역할·권한)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8357616" y="5458968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8449056" y="5458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gid_id, group_id, user_id, role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촌 DID 개발 개선안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89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어플 + 연락처 기반 자동 등록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508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동기화로 초기 관계망을 즉시 확보, 미인증 상태로 채팅 가능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2004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78892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5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동의 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E5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분석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48840" y="5394960"/>
            <a:ext cx="182880" cy="182880"/>
          </a:xfrm>
          <a:prstGeom prst="ellips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3931920" y="3063240"/>
            <a:ext cx="365760" cy="274320"/>
          </a:xfrm>
          <a:prstGeom prst="rtTriangl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2286000"/>
            <a:ext cx="7680960" cy="1691640"/>
          </a:xfrm>
          <a:prstGeom prst="rect">
            <a:avLst/>
          </a:prstGeom>
          <a:solidFill>
            <a:srgbClr val="F5F7FA"/>
          </a:solidFill>
          <a:ln w="25400">
            <a:solidFill>
              <a:srgbClr val="C892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468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가입자 연락처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2788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미인증 상태로 자동 관계망 편입 → 채팅 즉시 가능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54880" y="320040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채팅 1일 메시지 한도(스팸·악용 방지)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신분증 발급 · 그룹방 입장 권한은 인증 후 부여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 rot="5400000">
            <a:off x="3931920" y="5029200"/>
            <a:ext cx="365760" cy="274320"/>
          </a:xfrm>
          <a:prstGeom prst="rtTriangle">
            <a:avLst/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80560" y="4251960"/>
            <a:ext cx="7680960" cy="169164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4434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미가입 연락처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54880" y="4754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발송 대상 리스트로 분리 관리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54880" y="516636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SMS · 카카오 등으로 초대 메시지 발송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시 해당 사용자와의 자동 관계 추천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촌 DID 개발 개선안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05</a:t>
            </a:r>
            <a:endParaRPr lang="en-US" sz="4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관계</a:t>
            </a:r>
            <a:r>
              <a:rPr lang="en-US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2800" b="1" dirty="0" err="1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인증</a:t>
            </a:r>
            <a:r>
              <a:rPr lang="ko-KR" altLang="en-US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형 상호 인증</a:t>
            </a:r>
            <a:r>
              <a:rPr lang="en-US" sz="28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프로세스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508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연락처는 이미 관계가 있는 사람</a:t>
            </a:r>
            <a:r>
              <a:rPr lang="en-US" altLang="ko-KR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, CHON DID</a:t>
            </a:r>
            <a:r>
              <a:rPr 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060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01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54480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A → System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관계 설정 요청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4930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A가 B와의 관계를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매트릭스 좌표로 지정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26060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02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System → B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66160" y="30632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상대방 검토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66160" y="34930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B에게 알림 → 승인 또는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관계 재조정 선택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6060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03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23760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B → A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합의 또는 재조정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34930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재조정 시 A가 다시 응답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(최대 3회 제한)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961120" y="2286000"/>
            <a:ext cx="2606040" cy="192024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04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58400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Confirmed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35440" y="30632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인증 완료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35440" y="34930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관계 DB 업데이트 →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그룹방 자격 부여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11277295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37760"/>
            <a:ext cx="777240" cy="7772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78308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관계 재조정 (Re-negotiation)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783080" y="51389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상대방이 요청자의 정의에 동의하지 않을 때 재정의를 제안할 수 있습니다.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78308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예: A “직장 상사” → B “프로젝트 협력사 담당자”로 수정 제안 → A 승인 시 확정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86968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최대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869680" y="5029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3회</a:t>
            </a:r>
            <a:endParaRPr lang="en-US" sz="4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332720" y="50749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재조정 제한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무한 핑퐁 방지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촌 DID 개발 개선안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10</a:t>
            </a:r>
            <a:endParaRPr lang="en-US" sz="4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상호 인증 기반 채팅 그룹방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47218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그룹의 모든 멤버가 서로 인증된 관계인 경우에만 입장이 허용됩니다.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94360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그룹</a:t>
            </a:r>
            <a:r>
              <a:rPr lang="en-US" sz="16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ko-KR" altLang="en-US" sz="16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간격</a:t>
            </a:r>
            <a:r>
              <a:rPr lang="en-US" altLang="ko-KR" sz="16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(</a:t>
            </a:r>
            <a:r>
              <a:rPr lang="ko-KR" altLang="en-US" sz="16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예시 </a:t>
            </a:r>
            <a:r>
              <a:rPr lang="en-US" altLang="ko-KR" sz="16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- Telegram)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6656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그룹</a:t>
            </a:r>
            <a:r>
              <a:rPr lang="ko-KR" altLang="en-US" sz="16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공간</a:t>
            </a:r>
            <a:r>
              <a:rPr lang="en-US" sz="16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운영 원칙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766560" y="2752344"/>
            <a:ext cx="164592" cy="164592"/>
          </a:xfrm>
          <a:prstGeom prst="ellips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2697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쌍방 인증 멤버만 입장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59168" y="2990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모든 멤버 간 상호 인증된 관계가 전제 조건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66560" y="3465576"/>
            <a:ext cx="164592" cy="164592"/>
          </a:xfrm>
          <a:prstGeom prst="ellips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34107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매트릭스 기반 자동 추천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59168" y="3703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그룹 생성 시 같은 매트릭스 좌표 멤버 우선 노출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766560" y="4178808"/>
            <a:ext cx="164592" cy="164592"/>
          </a:xfrm>
          <a:prstGeom prst="ellips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4123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신분증 발급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59168" y="44165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매트릭스 좌표 + </a:t>
            </a: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신분증에 </a:t>
            </a:r>
            <a:r>
              <a:rPr lang="ko-KR" altLang="en-US" sz="11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인증내용이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포함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766560" y="4892040"/>
            <a:ext cx="164592" cy="164592"/>
          </a:xfrm>
          <a:prstGeom prst="ellips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9168" y="48371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권한 차등 적용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059168" y="51297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신분증의 역할에 따라 발언·관리 </a:t>
            </a:r>
            <a:r>
              <a:rPr lang="en-US" sz="1100" dirty="0" err="1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권한</a:t>
            </a: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1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부여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(</a:t>
            </a: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추후 업데이트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766560" y="5605272"/>
            <a:ext cx="164592" cy="164592"/>
          </a:xfrm>
          <a:prstGeom prst="ellipse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55504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자동 폐기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059168" y="58430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탈퇴·관계 해제 시 </a:t>
            </a:r>
            <a:r>
              <a:rPr lang="en-US" sz="1100" dirty="0" err="1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신분증</a:t>
            </a: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1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회수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(</a:t>
            </a: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변경 회수에 대한 운영 원칙 필요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촌 DID 개발 개선안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416" y="2541562"/>
            <a:ext cx="1960510" cy="3714734"/>
          </a:xfrm>
          <a:prstGeom prst="rect">
            <a:avLst/>
          </a:prstGeom>
        </p:spPr>
      </p:pic>
      <p:sp>
        <p:nvSpPr>
          <p:cNvPr id="53" name="타원 52"/>
          <p:cNvSpPr/>
          <p:nvPr/>
        </p:nvSpPr>
        <p:spPr>
          <a:xfrm>
            <a:off x="5007245" y="5523455"/>
            <a:ext cx="257908" cy="228287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525" y="3062847"/>
            <a:ext cx="1660706" cy="3146671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09" y="2887108"/>
            <a:ext cx="1764365" cy="3158288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983" y="3219546"/>
            <a:ext cx="1335509" cy="2223957"/>
          </a:xfrm>
          <a:prstGeom prst="rect">
            <a:avLst/>
          </a:prstGeom>
        </p:spPr>
      </p:pic>
      <p:sp>
        <p:nvSpPr>
          <p:cNvPr id="57" name="모서리가 둥근 직사각형 56"/>
          <p:cNvSpPr/>
          <p:nvPr/>
        </p:nvSpPr>
        <p:spPr>
          <a:xfrm>
            <a:off x="938736" y="2887108"/>
            <a:ext cx="1659912" cy="22185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11</a:t>
            </a:r>
            <a:endParaRPr lang="en-US" sz="4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관계 설정 매트릭스 — 4종 정의와 예시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508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기본형 · 가계도 · 회사 · 학교  —  도메인별 4종 매트릭스로 관계의 질을 구조화 (예시: 가계도 · 회사)</a:t>
            </a:r>
            <a:r>
              <a:rPr lang="en-US" altLang="ko-KR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457200" y="605223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· </a:t>
            </a:r>
            <a:r>
              <a:rPr lang="ko-KR" altLang="en-US" sz="1100" i="1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한 선조에서 나온 인원은 </a:t>
            </a:r>
            <a:r>
              <a:rPr lang="ko-KR" altLang="en-US" sz="1100" i="1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메트릭스</a:t>
            </a:r>
            <a:r>
              <a:rPr lang="ko-KR" altLang="en-US" sz="1100" i="1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화면에 무한으로 </a:t>
            </a:r>
            <a:r>
              <a:rPr lang="ko-KR" altLang="en-US" sz="1100" i="1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네모칸으로</a:t>
            </a:r>
            <a:r>
              <a:rPr lang="ko-KR" altLang="en-US" sz="1100" i="1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확장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촌 DID 개발 개선안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495194"/>
              </p:ext>
            </p:extLst>
          </p:nvPr>
        </p:nvGraphicFramePr>
        <p:xfrm>
          <a:off x="457202" y="2251222"/>
          <a:ext cx="5396520" cy="2837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4565">
                  <a:extLst>
                    <a:ext uri="{9D8B030D-6E8A-4147-A177-3AD203B41FA5}">
                      <a16:colId xmlns:a16="http://schemas.microsoft.com/office/drawing/2014/main" xmlns="" val="3588159375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589120676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2282198234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1073118248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3894150816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718263414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705838944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4197684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 xml:space="preserve">     </a:t>
                      </a:r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 xml:space="preserve">순서 </a:t>
                      </a:r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 xml:space="preserve">-&gt; </a:t>
                      </a:r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첫째</a:t>
                      </a:r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 xml:space="preserve">, </a:t>
                      </a:r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둘째</a:t>
                      </a:r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 xml:space="preserve">, </a:t>
                      </a:r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셋째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8813448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세대</a:t>
                      </a:r>
                      <a:endParaRPr lang="en-US" altLang="ko-KR" sz="1100" dirty="0" smtClean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서열</a:t>
                      </a: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 xml:space="preserve"> </a:t>
                      </a:r>
                      <a:endParaRPr lang="en-US" altLang="ko-KR" sz="1100" dirty="0" smtClean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 smtClean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고조부</a:t>
                      </a:r>
                      <a:endParaRPr lang="en-US" altLang="ko-KR" sz="1100" dirty="0" smtClean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증조부</a:t>
                      </a:r>
                      <a:endParaRPr lang="en-US" altLang="ko-KR" sz="1100" dirty="0" smtClean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조부</a:t>
                      </a:r>
                      <a:endParaRPr lang="en-US" altLang="ko-KR" sz="1100" dirty="0" smtClean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나</a:t>
                      </a:r>
                    </a:p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 xml:space="preserve">증조 할아버지 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 xml:space="preserve">+ </a:t>
                      </a: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증조 할머니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43830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할아버지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</a:t>
                      </a: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할머니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121775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큰아버지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+(</a:t>
                      </a: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큰어머니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아버지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+(</a:t>
                      </a: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어머니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작은아버지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+(</a:t>
                      </a: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작은어머니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고모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+(</a:t>
                      </a: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고모부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78488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사촌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+()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형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</a:t>
                      </a: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형수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나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+(</a:t>
                      </a: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부인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사촌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+()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사촌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+()</a:t>
                      </a:r>
                      <a:endParaRPr lang="ko-KR" altLang="en-US" sz="105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61595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아들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+()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093944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09424375"/>
                  </a:ext>
                </a:extLst>
              </a:tr>
            </a:tbl>
          </a:graphicData>
        </a:graphic>
      </p:graphicFrame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09653"/>
              </p:ext>
            </p:extLst>
          </p:nvPr>
        </p:nvGraphicFramePr>
        <p:xfrm>
          <a:off x="6463325" y="2236177"/>
          <a:ext cx="539652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4565">
                  <a:extLst>
                    <a:ext uri="{9D8B030D-6E8A-4147-A177-3AD203B41FA5}">
                      <a16:colId xmlns:a16="http://schemas.microsoft.com/office/drawing/2014/main" xmlns="" val="3588159375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589120676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2282198234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1073118248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3894150816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718263414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705838944"/>
                    </a:ext>
                  </a:extLst>
                </a:gridCol>
                <a:gridCol w="674565">
                  <a:extLst>
                    <a:ext uri="{9D8B030D-6E8A-4147-A177-3AD203B41FA5}">
                      <a16:colId xmlns:a16="http://schemas.microsoft.com/office/drawing/2014/main" xmlns="" val="4197684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bg1"/>
                          </a:solidFill>
                        </a:rPr>
                        <a:t xml:space="preserve">     </a:t>
                      </a:r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</a:rPr>
                        <a:t xml:space="preserve">순서 </a:t>
                      </a:r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 xml:space="preserve">-&gt; </a:t>
                      </a:r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</a:rPr>
                        <a:t>첫째</a:t>
                      </a:r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 xml:space="preserve">, </a:t>
                      </a:r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</a:rPr>
                        <a:t>둘째</a:t>
                      </a:r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 xml:space="preserve">, </a:t>
                      </a:r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</a:rPr>
                        <a:t>셋째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8813448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 xml:space="preserve">서열 </a:t>
                      </a:r>
                      <a:endParaRPr lang="en-US" altLang="ko-KR" sz="110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회사</a:t>
                      </a:r>
                      <a:endParaRPr lang="en-US" altLang="ko-KR" sz="110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직위</a:t>
                      </a:r>
                      <a:endParaRPr lang="en-US" altLang="ko-KR" sz="11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인사팀장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43830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부서장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121775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팀장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팀장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팀장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팀장</a:t>
                      </a:r>
                      <a:r>
                        <a:rPr lang="en-US" altLang="ko-KR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78488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부장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부장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61595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차장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093944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과장</a:t>
                      </a:r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09424375"/>
                  </a:ext>
                </a:extLst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 flipV="1">
            <a:off x="3522133" y="2751667"/>
            <a:ext cx="0" cy="1440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H="1">
            <a:off x="2954867" y="3140417"/>
            <a:ext cx="567266" cy="542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2218267" y="2786283"/>
            <a:ext cx="1265766" cy="35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2218267" y="3140417"/>
            <a:ext cx="0" cy="143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18"/>
          <p:cNvSpPr/>
          <p:nvPr/>
        </p:nvSpPr>
        <p:spPr>
          <a:xfrm>
            <a:off x="472287" y="2103705"/>
            <a:ext cx="5623560" cy="182880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C89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RELATION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508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T</a:t>
            </a:r>
            <a:r>
              <a:rPr lang="ko-KR" altLang="en-US" sz="1400" dirty="0" err="1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소속별</a:t>
            </a:r>
            <a:r>
              <a:rPr lang="ko-KR" altLang="en-US" sz="14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 xml:space="preserve"> </a:t>
            </a:r>
            <a:r>
              <a:rPr lang="ko-KR" altLang="en-US" sz="1400" dirty="0" err="1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관계도와</a:t>
            </a:r>
            <a:r>
              <a:rPr lang="ko-KR" altLang="en-US" sz="14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 xml:space="preserve"> 인적 노트 현황 노출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371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286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기본형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011680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관계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623560" cy="182880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2103120"/>
            <a:ext cx="1371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69748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18120" y="2286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가계도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818120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친족 관계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4069080"/>
            <a:ext cx="5623560" cy="182880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7200" y="4069080"/>
            <a:ext cx="1371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66344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011680" y="42519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2011680" y="4663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관계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263640" y="4069080"/>
            <a:ext cx="5623560" cy="182880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263640" y="4069080"/>
            <a:ext cx="1371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663440"/>
            <a:ext cx="640080" cy="6400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818120" y="42519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7818120" y="4663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학연 관계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57200" y="6080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한 사용자 쌍이 여러 매트릭스에 동시 존재 가능 (예: 회사 동료 + 학교 선후배)    · 매트릭스 변경(이직·졸업 등) 시 재조정 프로세스 재가동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촌 DID 개발 개선안</a:t>
            </a:r>
            <a:endParaRPr lang="en-US" sz="1000" dirty="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5420" y="2186626"/>
            <a:ext cx="2124026" cy="1638137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4706" y="4210949"/>
            <a:ext cx="2247232" cy="1520085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977" y="4157367"/>
            <a:ext cx="2384478" cy="1525782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6100" y="2224140"/>
            <a:ext cx="2225513" cy="142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43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C8924D"/>
                </a:solidFill>
                <a:latin typeface="Georgia" pitchFamily="34" charset="0"/>
              </a:rPr>
              <a:t>13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구현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508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4단계로 점진적 출시, 핵심 인증 인프라 → 매트릭스 확장 → 그룹 기능 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21688"/>
            <a:ext cx="1091153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622" y="242784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Sprint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3902" y="2747889"/>
            <a:ext cx="1920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3902" y="2747889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85150" y="3406257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422" y="375372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인프라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2422" y="4165209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 인증 가입/로그인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 · AuthCodes 테이블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동기화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7506" y="242784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 xml:space="preserve">Sprint </a:t>
            </a:r>
            <a:r>
              <a:rPr lang="en-US" altLang="ko-KR" sz="11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2</a:t>
            </a:r>
            <a:endParaRPr lang="en-US" altLang="ko-KR" sz="1100" dirty="0"/>
          </a:p>
        </p:txBody>
      </p:sp>
      <p:sp>
        <p:nvSpPr>
          <p:cNvPr id="14" name="Shape 12"/>
          <p:cNvSpPr/>
          <p:nvPr/>
        </p:nvSpPr>
        <p:spPr>
          <a:xfrm>
            <a:off x="3771786" y="2747889"/>
            <a:ext cx="1920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1786" y="2747889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3034" y="3406257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0306" y="375372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쌍방 인증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60306" y="4165209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Relations 테이블 구축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요청·재조정 워크플로우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기본형 + 가계도 매트릭스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45390" y="242784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 xml:space="preserve">Sprint </a:t>
            </a:r>
            <a:r>
              <a:rPr lang="en-US" altLang="ko-KR" sz="11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3</a:t>
            </a:r>
            <a:endParaRPr lang="en-US" altLang="ko-KR" sz="1100" dirty="0"/>
          </a:p>
        </p:txBody>
      </p:sp>
      <p:sp>
        <p:nvSpPr>
          <p:cNvPr id="20" name="Shape 18"/>
          <p:cNvSpPr/>
          <p:nvPr/>
        </p:nvSpPr>
        <p:spPr>
          <a:xfrm>
            <a:off x="6499670" y="2747889"/>
            <a:ext cx="1920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9670" y="2747889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40918" y="3406257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8190" y="375372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매트릭스 · 그룹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88190" y="4165209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회사·학교 매트릭스 확장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Groups · GroupIDs 테이블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그룹방 신분증 발급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73273" y="242784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 xml:space="preserve">Sprint </a:t>
            </a:r>
            <a:r>
              <a:rPr lang="en-US" altLang="ko-KR" sz="11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4</a:t>
            </a:r>
            <a:endParaRPr lang="en-US" altLang="ko-KR" sz="1100" dirty="0"/>
          </a:p>
        </p:txBody>
      </p:sp>
      <p:sp>
        <p:nvSpPr>
          <p:cNvPr id="26" name="Shape 24"/>
          <p:cNvSpPr/>
          <p:nvPr/>
        </p:nvSpPr>
        <p:spPr>
          <a:xfrm>
            <a:off x="9227553" y="2747889"/>
            <a:ext cx="1920240" cy="54864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7553" y="2747889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68801" y="3406257"/>
            <a:ext cx="237744" cy="237744"/>
          </a:xfrm>
          <a:prstGeom prst="ellipse">
            <a:avLst/>
          </a:prstGeom>
          <a:solidFill>
            <a:srgbClr val="C892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16073" y="375372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16073" y="4165209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매트릭스 변경 이력 관리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조정 프로세스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DID 표준 연동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촌 DID 개발 개선안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0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CONCLUSION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기대 효과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91440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8924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4963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신규 가입 전환율 상승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54480" y="26700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진입 단계 축소로 모바일 환경 가입 이탈 감소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8924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2735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초기 네트워크 효과 즉시 확보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554480" y="34472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연락처 자동 편입으로 첫날부터 활성 관계망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40080" y="388620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8924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0507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허위</a:t>
            </a:r>
            <a:r>
              <a:rPr lang="en-US" sz="17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700" b="1" dirty="0" err="1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관계·사칭</a:t>
            </a:r>
            <a:r>
              <a:rPr lang="en-US" sz="17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700" b="1" dirty="0" err="1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차단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55448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쌍방 합의형 인증으로 일방적 등록 원천 차단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40080" y="46634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8924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82803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맥락 있는 관계망 형성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554480" y="5001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단순 ‘친구’가 아닌 매트릭스 기반 관계 정의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640080" y="544068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8924D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560527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사적 · 공적 커뮤니케이션 분리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1554480" y="5779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5F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인증된 관계 위의 그룹방으로 신뢰 기반 분리 운영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kern="0" spc="300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CHON DID — 관계가 곧 신원이 되는 새로운 신뢰 인프라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07</a:t>
            </a:r>
            <a:endParaRPr lang="en-US" sz="4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재설계 5원칙 + 6단계 UX 흐름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4859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각 원칙이 어떤 UX 단계에서 적용되는가 — 원칙은 결정 기준, 단계는 사용자 여정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30876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3544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01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0" y="350518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733789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1613" y="4382327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매트릭스</a:t>
            </a:r>
            <a:r>
              <a:rPr lang="en-US" sz="15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좌표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1613" y="4854764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chip이 아닌 좌표로 관계 정의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→ STEP 02 (관계 정의)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734056" y="335448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43784" y="33544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02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374136" y="350518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3733789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08469" y="4382327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양방향·재협상 가능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924014" y="4861526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동의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안 되면 </a:t>
            </a:r>
            <a:r>
              <a:rPr lang="en-US" sz="1100" dirty="0" err="1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역제안</a:t>
            </a: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 </a:t>
            </a:r>
            <a:r>
              <a:rPr lang="en-US" sz="11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가능</a:t>
            </a: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b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b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 xml:space="preserve">최대 3회 — 비동기 → 동기 </a:t>
            </a:r>
            <a:endParaRPr lang="en-US" altLang="ko-KR" sz="1100" dirty="0" smtClean="0">
              <a:solidFill>
                <a:srgbClr val="64748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→ STEP 05 (추적·재조정)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010912" y="335448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54473" y="337185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03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650992" y="350518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3733789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85325" y="4382327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점진적 공개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185325" y="4930967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→ STEP 03·04 (공유·검토)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7287768" y="335448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70648" y="3382292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04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7927848" y="350518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179229" y="5459292"/>
            <a:ext cx="1792224" cy="46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(단방향 wizard 강제하지 않음)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9576511" y="3354488"/>
            <a:ext cx="2157984" cy="2655147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720072" y="3401509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05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10209276" y="3550909"/>
            <a:ext cx="868680" cy="868680"/>
          </a:xfrm>
          <a:prstGeom prst="ellipse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3716595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62181" y="4365133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맥락 자동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7462181" y="4913773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자동 편입·기존 관계 → prefill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→ STEP 01·02 (선택·매트릭스)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촌 DID 개발 개선안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7876" y="3751276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47597" y="4459083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살아있는</a:t>
            </a:r>
            <a:r>
              <a:rPr lang="ko-KR" altLang="en-US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 xml:space="preserve"> </a:t>
            </a:r>
            <a:r>
              <a:rPr lang="en-US" altLang="ko-KR" sz="1500" b="1" dirty="0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객체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9690521" y="4974433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요청은 라이프사이클을 가짐</a:t>
            </a:r>
            <a:r>
              <a:rPr lang="ko-KR" altLang="en-US" sz="11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STEP 05·06 (추적·그룹방)</a:t>
            </a:r>
            <a:endParaRPr lang="en-US" altLang="ko-KR" sz="1100" dirty="0" smtClean="0">
              <a:solidFill>
                <a:srgbClr val="64748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7449989" y="5379426"/>
            <a:ext cx="1792224" cy="30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(이미 등록된 관계는 확인만)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558594" y="570120"/>
            <a:ext cx="78707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구체적 UX 개선점 — Before / After</a:t>
            </a:r>
            <a:endParaRPr lang="en-US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064163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28755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01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91640" y="224704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관계 입력 방식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91640" y="2475643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/>
            </a:r>
            <a:r>
              <a:rPr lang="en-US" sz="1600" b="1" dirty="0" err="1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/>
            </a: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ko-KR" altLang="en-US" sz="1600" b="1" smtClean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매트릭스 좌표로 관계의 일관성 확보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91640" y="284140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AS-IS  자유 입력 ("오빠"/"친오빠" 불일치)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52160" y="284140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3640" y="284140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TO-BE  매트릭스 좌표 chip (양방향 자동)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344323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08915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02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91640" y="352720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응답 메커니즘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91640" y="3755803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거절만이 아닌 재조정 — 양측 합의로 인증 완성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91640" y="412156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AS-IS  거절만 가능 (단방향 종료)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52160" y="412156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412156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/>
            </a:r>
            <a:r>
              <a:rPr lang="en-US" sz="1100" b="1" dirty="0" err="1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TO-BE</a:t>
            </a:r>
            <a:r>
              <a:rPr lang="en-US" sz="1100" b="1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</a:t>
            </a:r>
            <a:r>
              <a:rPr lang="en-US" sz="1100" b="1" dirty="0" err="1" smtClean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  재조정 최대 </a:t>
            </a:r>
            <a:r>
              <a:rPr lang="en-US" sz="1100" b="1" dirty="0" smtClean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 xml:space="preserve">, </a:t>
            </a:r>
            <a:r>
              <a:rPr lang="ko-KR" altLang="en-US" sz="1100" b="1" smtClean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3회 (양측 합의 도달)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624483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89075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03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91640" y="480736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발송 후 상태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91640" y="5035963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요청은 라이프사이클을 가진 살아있는 객체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91640" y="540172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9616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AS-IS  발송 후 상태 불명 (대기/수락/거절/만료 어디?)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52160" y="540172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63640" y="540172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TO-BE  6 상태 라이프사이클 (보낸/받은 요청 통합 뷰)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5767483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950363"/>
            <a:ext cx="1106424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04180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기대 효과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691640" y="6041803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핵심 3가지 UX 변화 — 입력 일관성·양측 합의·상태 가시성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0"/>
          <p:cNvSpPr/>
          <p:nvPr/>
        </p:nvSpPr>
        <p:spPr>
          <a:xfrm>
            <a:off x="457199" y="411480"/>
            <a:ext cx="21824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06</a:t>
            </a:r>
            <a:endParaRPr lang="en-US" sz="4400" dirty="0">
              <a:solidFill>
                <a:srgbClr val="53B3A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34" name="Text 3"/>
          <p:cNvSpPr/>
          <p:nvPr/>
        </p:nvSpPr>
        <p:spPr>
          <a:xfrm>
            <a:off x="1417320" y="14859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 err="1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r>
              <a:rPr lang="ko-KR" alt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r>
              <a:rPr lang="en-US" altLang="ko-KR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r>
              <a:rPr lang="ko-KR" altLang="en-US" sz="1400" dirty="0" err="1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r>
              <a:rPr lang="ko-KR" alt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r>
              <a:rPr lang="en-US" altLang="ko-KR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r>
              <a:rPr lang="ko-KR" altLang="en-US" sz="1400" dirty="0" err="1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r>
              <a:rPr lang="ko-KR" alt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r>
              <a:rPr lang="ko-KR" altLang="en-US" sz="1400" dirty="0" smtClean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/>
            </a:r>
            <a:endParaRPr lang="ko-KR" altLang="en-US" sz="1400" dirty="0">
              <a:solidFill>
                <a:srgbClr val="64748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0904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18"/>
          <p:cNvSpPr/>
          <p:nvPr/>
        </p:nvSpPr>
        <p:spPr>
          <a:xfrm>
            <a:off x="472287" y="2103705"/>
            <a:ext cx="5623560" cy="182880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C89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단계별 화면 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508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/>
            </a:r>
            <a:r>
              <a:rPr lang="ko-KR" altLang="en-US" sz="1400" dirty="0" err="1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핵심 STEP 4개의</a:t>
            </a:r>
            <a:r>
              <a:rPr lang="ko-KR" altLang="en-US" sz="14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 xml:space="preserve"> </a:t>
            </a:r>
            <a:r>
              <a:rPr lang="ko-KR" altLang="en-US" sz="1400" dirty="0" err="1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실제 화면</a:t>
            </a:r>
            <a:r>
              <a:rPr lang="ko-KR" altLang="en-US" sz="1400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/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371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286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011680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선택 · 5개 진입로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623560" cy="182880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2103120"/>
            <a:ext cx="1371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69748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18120" y="2286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818120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매트릭스 좌표 · 양방향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4069080"/>
            <a:ext cx="5623560" cy="182880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7200" y="4069080"/>
            <a:ext cx="1371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66344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011680" y="42519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2011680" y="4663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범위 · 선택적 공개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263640" y="4069080"/>
            <a:ext cx="5623560" cy="182880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263640" y="4069080"/>
            <a:ext cx="1371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663440"/>
            <a:ext cx="640080" cy="6400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818120" y="42519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7818120" y="4663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그룹방 자격 부여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57200" y="6080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진입(주소록·QR·링크·관계도·받은 요청) → 정의 → 공유 → 검토 → 추적·재조정 → 그룹방 자격으로 이어지는 6단계 흐름의 핵심 화면입니다.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촌 DID 개발 개선안</a:t>
            </a:r>
            <a:endParaRPr lang="en-US" sz="1000" dirty="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5420" y="2186626"/>
            <a:ext cx="2124026" cy="1638137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4706" y="4210949"/>
            <a:ext cx="2247232" cy="1520085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977" y="4157367"/>
            <a:ext cx="2384478" cy="1525782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6100" y="2224140"/>
            <a:ext cx="2225513" cy="142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43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892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eorgia" pitchFamily="34" charset="-120"/>
              </a:rPr>
              <a:t>09</a:t>
            </a:r>
            <a:endParaRPr lang="en-US" sz="4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요청 라이프사이클 — 6 상태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C8924D"/>
          </a:solidFill>
          <a:ln w="12700">
            <a:solidFill>
              <a:srgbClr val="C89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508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발송한 요청은 살아있는 객체로 6 상태를 가진다 — 사용자는 언제든 상태 확인·재조정 가능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DRAFT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7160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초안 작성 중 · 발송 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3429000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24시간 후 자동 삭제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70248" y="2194560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70248" y="2194560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4688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84648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PENDING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184648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대기 중 · 상대 응답 기다림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544568" y="3429000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36008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7일 만료 · 만료 24시간 전 알림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083296" y="2194560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83296" y="2194560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46888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97696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NEGOTIATING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997696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재조정 중 · 양측 협상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357616" y="3429000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49056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사이클 N/3 · 3회 초과 시 EXPIRED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457200" y="4224528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7200" y="4224528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98848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4453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ACCEPTED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1371600" y="4864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수락됨 · 인증 완료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731520" y="5458968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2960" y="5458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→ 그룹방 자격 부여 · Trust Garden 성장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4270248" y="4224528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270248" y="4224528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568" y="4498848"/>
            <a:ext cx="502920" cy="5029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84648" y="4453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REJECTED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5184648" y="4864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거절됨 · 사유 옵션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4544568" y="5458968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636008" y="5458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차단 옵션 미제공 (관계 회복 여지)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8083296" y="4224528"/>
            <a:ext cx="3657600" cy="1874520"/>
          </a:xfrm>
          <a:prstGeom prst="rect">
            <a:avLst/>
          </a:prstGeom>
          <a:solidFill>
            <a:srgbClr val="FA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083296" y="4224528"/>
            <a:ext cx="73152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4498848"/>
            <a:ext cx="502920" cy="5029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997696" y="4453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EXPIRED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8997696" y="4864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만료됨 · 7일 무응답 또는 재조정 3회 초과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8357616" y="5458968"/>
            <a:ext cx="3154680" cy="502920"/>
          </a:xfrm>
          <a:prstGeom prst="rect">
            <a:avLst/>
          </a:prstGeom>
          <a:solidFill>
            <a:srgbClr val="DCE5F2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8449056" y="5458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재발송 가능 · 1탭 → 새 PENDING 생성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촌 DID 개발 개선안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1598</Words>
  <Application>Microsoft Office PowerPoint</Application>
  <PresentationFormat>와이드스크린</PresentationFormat>
  <Paragraphs>388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Calibri (MS)</vt:lpstr>
      <vt:lpstr>Calibri (MS) Bold</vt:lpstr>
      <vt:lpstr>Noto Sans KR</vt:lpstr>
      <vt:lpstr>맑은 고딕</vt:lpstr>
      <vt:lpstr>맑은 고딕</vt:lpstr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촌 DID 개발 개선안</dc:title>
  <dc:subject>PptxGenJS Presentation</dc:subject>
  <dc:creator>촌 DID 팀</dc:creator>
  <cp:lastModifiedBy>H110P</cp:lastModifiedBy>
  <cp:revision>33</cp:revision>
  <dcterms:created xsi:type="dcterms:W3CDTF">2026-05-07T03:35:52Z</dcterms:created>
  <dcterms:modified xsi:type="dcterms:W3CDTF">2026-05-08T06:24:16Z</dcterms:modified>
</cp:coreProperties>
</file>