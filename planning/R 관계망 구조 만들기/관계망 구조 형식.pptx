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03CDCC-2426-4283-9CAC-58526DB4BE85}">
  <a:tblStyle styleId="{6F03CDCC-2426-4283-9CAC-58526DB4BE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a3e584d7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a3e584d7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a3e584d7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a3e584d7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a3e584d7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ca3e584d7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a3e584d7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a3e584d7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00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관계도의 유형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64500" y="4029550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/>
              <a:t>개발 관련, 관계도에 대한 명확한 구분이 필요하여 작성하였습니다.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촌이 사용할 관계도의 4가지 유형</a:t>
            </a:r>
            <a:endParaRPr/>
          </a:p>
        </p:txBody>
      </p:sp>
      <p:graphicFrame>
        <p:nvGraphicFramePr>
          <p:cNvPr id="61" name="Google Shape;61;p14"/>
          <p:cNvGraphicFramePr/>
          <p:nvPr/>
        </p:nvGraphicFramePr>
        <p:xfrm>
          <a:off x="311700" y="1113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{6F03CDCC-2426-4283-9CAC-58526DB4BE85}</a:tableStyleId>
              </a:tblPr>
              <a:tblGrid>
                <a:gridCol w="4260300"/>
                <a:gridCol w="4260300"/>
              </a:tblGrid>
              <a:tr h="1798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01. 가계도 (Family Tree)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혈연 관계 중심의 세대별 수직 구조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647700" rtl="0" algn="l">
                        <a:lnSpc>
                          <a:spcPct val="1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25"/>
                        </a:buClr>
                        <a:buSzPts val="1200"/>
                        <a:buChar char="●"/>
                      </a:pPr>
                      <a:r>
                        <a:rPr lang="ko" sz="1200">
                          <a:solidFill>
                            <a:srgbClr val="232425"/>
                          </a:solidFill>
                          <a:highlight>
                            <a:srgbClr val="FFFFFF"/>
                          </a:highlight>
                        </a:rPr>
                        <a:t>G = (V, E)</a:t>
                      </a:r>
                      <a:endParaRPr sz="1200">
                        <a:solidFill>
                          <a:srgbClr val="232425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-304800" lvl="0" marL="647700" rtl="0" algn="l">
                        <a:lnSpc>
                          <a:spcPct val="1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25"/>
                        </a:buClr>
                        <a:buSzPts val="1200"/>
                        <a:buChar char="●"/>
                      </a:pPr>
                      <a:r>
                        <a:rPr lang="ko" sz="1200">
                          <a:solidFill>
                            <a:srgbClr val="232425"/>
                          </a:solidFill>
                          <a:highlight>
                            <a:srgbClr val="FFFFFF"/>
                          </a:highlight>
                        </a:rPr>
                        <a:t>V = {조부모, 부모, 자녀}</a:t>
                      </a:r>
                      <a:endParaRPr sz="1200">
                        <a:solidFill>
                          <a:srgbClr val="232425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-304800" lvl="0" marL="647700" rtl="0" algn="l">
                        <a:lnSpc>
                          <a:spcPct val="1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25"/>
                        </a:buClr>
                        <a:buSzPts val="1200"/>
                        <a:buChar char="●"/>
                      </a:pPr>
                      <a:r>
                        <a:rPr lang="ko" sz="1200">
                          <a:solidFill>
                            <a:srgbClr val="232425"/>
                          </a:solidFill>
                          <a:highlight>
                            <a:srgbClr val="FFFFFF"/>
                          </a:highlight>
                        </a:rPr>
                        <a:t>연결규칙: 부모→자녀 (단방향)</a:t>
                      </a:r>
                      <a:endParaRPr sz="1200">
                        <a:solidFill>
                          <a:srgbClr val="232425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-304800" lvl="0" marL="647700" rtl="0" algn="l">
                        <a:lnSpc>
                          <a:spcPct val="1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25"/>
                        </a:buClr>
                        <a:buSzPts val="1200"/>
                        <a:buChar char="●"/>
                      </a:pPr>
                      <a:r>
                        <a:rPr lang="ko" sz="1200">
                          <a:solidFill>
                            <a:srgbClr val="232425"/>
                          </a:solidFill>
                          <a:highlight>
                            <a:srgbClr val="FFFFFF"/>
                          </a:highlight>
                        </a:rPr>
                        <a:t>제약: 사이클 없</a:t>
                      </a:r>
                      <a:r>
                        <a:rPr lang="ko" sz="1200">
                          <a:solidFill>
                            <a:srgbClr val="232425"/>
                          </a:solidFill>
                          <a:highlight>
                            <a:srgbClr val="FFFFFF"/>
                          </a:highlight>
                        </a:rPr>
                        <a:t>음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02. 일반 네트워크 (Social Network)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지인의 지인으로 확장되는 자유로운 수평 연결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647700" rtl="0" algn="l">
                        <a:lnSpc>
                          <a:spcPct val="1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25"/>
                        </a:buClr>
                        <a:buSzPts val="1200"/>
                        <a:buChar char="●"/>
                      </a:pPr>
                      <a:r>
                        <a:rPr lang="ko" sz="1200">
                          <a:solidFill>
                            <a:srgbClr val="232425"/>
                          </a:solidFill>
                          <a:highlight>
                            <a:srgbClr val="FFFFFF"/>
                          </a:highlight>
                        </a:rPr>
                        <a:t>G = (V, E)</a:t>
                      </a:r>
                      <a:endParaRPr sz="1200">
                        <a:solidFill>
                          <a:srgbClr val="232425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-304800" lvl="0" marL="647700" rtl="0" algn="l">
                        <a:lnSpc>
                          <a:spcPct val="1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25"/>
                        </a:buClr>
                        <a:buSzPts val="1200"/>
                        <a:buChar char="●"/>
                      </a:pPr>
                      <a:r>
                        <a:rPr lang="ko" sz="1200">
                          <a:solidFill>
                            <a:srgbClr val="232425"/>
                          </a:solidFill>
                          <a:highlight>
                            <a:srgbClr val="FFFFFF"/>
                          </a:highlight>
                        </a:rPr>
                        <a:t>E = {(i,j) | i↔j 아는 사이}</a:t>
                      </a:r>
                      <a:endParaRPr sz="1200">
                        <a:solidFill>
                          <a:srgbClr val="232425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-304800" lvl="0" marL="647700" rtl="0" algn="l">
                        <a:lnSpc>
                          <a:spcPct val="1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25"/>
                        </a:buClr>
                        <a:buSzPts val="1200"/>
                        <a:buChar char="●"/>
                      </a:pPr>
                      <a:r>
                        <a:rPr lang="ko" sz="1200">
                          <a:solidFill>
                            <a:srgbClr val="232425"/>
                          </a:solidFill>
                          <a:highlight>
                            <a:srgbClr val="FFFFFF"/>
                          </a:highlight>
                        </a:rPr>
                        <a:t>연결규칙: 양방향 자유 연결</a:t>
                      </a:r>
                      <a:endParaRPr sz="1200">
                        <a:solidFill>
                          <a:srgbClr val="232425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-304800" lvl="0" marL="647700" rtl="0" algn="l">
                        <a:lnSpc>
                          <a:spcPct val="1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25"/>
                        </a:buClr>
                        <a:buSzPts val="1200"/>
                        <a:buChar char="●"/>
                      </a:pPr>
                      <a:r>
                        <a:rPr lang="ko" sz="1200">
                          <a:solidFill>
                            <a:srgbClr val="232425"/>
                          </a:solidFill>
                          <a:highlight>
                            <a:srgbClr val="FFFFFF"/>
                          </a:highlight>
                        </a:rPr>
                        <a:t>제약: 없음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1798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03. 위계적 수직 관계도 (School Network)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중심되는 인물을 통한 수직적 연결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647700" rtl="0" algn="l">
                        <a:lnSpc>
                          <a:spcPct val="1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25"/>
                        </a:buClr>
                        <a:buSzPts val="1200"/>
                        <a:buChar char="●"/>
                      </a:pPr>
                      <a:r>
                        <a:rPr lang="ko" sz="1200">
                          <a:solidFill>
                            <a:srgbClr val="232425"/>
                          </a:solidFill>
                          <a:highlight>
                            <a:srgbClr val="FFFFFF"/>
                          </a:highlight>
                        </a:rPr>
                        <a:t>G = (V, E)</a:t>
                      </a:r>
                      <a:endParaRPr sz="1200">
                        <a:solidFill>
                          <a:srgbClr val="232425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-304800" lvl="0" marL="647700" rtl="0" algn="l">
                        <a:lnSpc>
                          <a:spcPct val="1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25"/>
                        </a:buClr>
                        <a:buSzPts val="1200"/>
                        <a:buChar char="●"/>
                      </a:pPr>
                      <a:r>
                        <a:rPr lang="ko" sz="1200">
                          <a:solidFill>
                            <a:srgbClr val="232425"/>
                          </a:solidFill>
                          <a:highlight>
                            <a:srgbClr val="FFFFFF"/>
                          </a:highlight>
                        </a:rPr>
                        <a:t>V = {선생님, 학생₁, 학생₂, ...}</a:t>
                      </a:r>
                      <a:endParaRPr sz="1200">
                        <a:solidFill>
                          <a:srgbClr val="232425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-304800" lvl="0" marL="647700" rtl="0" algn="l">
                        <a:lnSpc>
                          <a:spcPct val="1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25"/>
                        </a:buClr>
                        <a:buSzPts val="1200"/>
                        <a:buChar char="●"/>
                      </a:pPr>
                      <a:r>
                        <a:rPr lang="ko" sz="1200">
                          <a:solidFill>
                            <a:srgbClr val="232425"/>
                          </a:solidFill>
                          <a:highlight>
                            <a:srgbClr val="FFFFFF"/>
                          </a:highlight>
                        </a:rPr>
                        <a:t>연결규칙: 중심→모든 말단</a:t>
                      </a:r>
                      <a:endParaRPr sz="1200">
                        <a:solidFill>
                          <a:srgbClr val="232425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-304800" lvl="0" marL="647700" rtl="0" algn="l">
                        <a:lnSpc>
                          <a:spcPct val="1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25"/>
                        </a:buClr>
                        <a:buSzPts val="1200"/>
                        <a:buChar char="●"/>
                      </a:pPr>
                      <a:r>
                        <a:rPr lang="ko" sz="1200">
                          <a:solidFill>
                            <a:srgbClr val="232425"/>
                          </a:solidFill>
                          <a:highlight>
                            <a:srgbClr val="FFFFFF"/>
                          </a:highlight>
                        </a:rPr>
                        <a:t>degree(중심) = n-1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04. 계층적 수직 관계도 (Organization Chart)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명확한 계층과 권한 체계를 가진 수직 구조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647700" rtl="0" algn="l">
                        <a:lnSpc>
                          <a:spcPct val="1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25"/>
                        </a:buClr>
                        <a:buSzPts val="1200"/>
                        <a:buChar char="●"/>
                      </a:pPr>
                      <a:r>
                        <a:rPr lang="ko" sz="1200">
                          <a:solidFill>
                            <a:srgbClr val="232425"/>
                          </a:solidFill>
                          <a:highlight>
                            <a:srgbClr val="FFFFFF"/>
                          </a:highlight>
                        </a:rPr>
                        <a:t>G = (V, E)</a:t>
                      </a:r>
                      <a:endParaRPr sz="1200">
                        <a:solidFill>
                          <a:srgbClr val="232425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-304800" lvl="0" marL="647700" rtl="0" algn="l">
                        <a:lnSpc>
                          <a:spcPct val="1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25"/>
                        </a:buClr>
                        <a:buSzPts val="1200"/>
                        <a:buChar char="●"/>
                      </a:pPr>
                      <a:r>
                        <a:rPr lang="ko" sz="1200">
                          <a:solidFill>
                            <a:srgbClr val="232425"/>
                          </a:solidFill>
                          <a:highlight>
                            <a:srgbClr val="FFFFFF"/>
                          </a:highlight>
                        </a:rPr>
                        <a:t>V = {CEO, 팀장, 팀원}</a:t>
                      </a:r>
                      <a:endParaRPr sz="1200">
                        <a:solidFill>
                          <a:srgbClr val="232425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-304800" lvl="0" marL="647700" rtl="0" algn="l">
                        <a:lnSpc>
                          <a:spcPct val="1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25"/>
                        </a:buClr>
                        <a:buSzPts val="1200"/>
                        <a:buChar char="●"/>
                      </a:pPr>
                      <a:r>
                        <a:rPr lang="ko" sz="1200">
                          <a:solidFill>
                            <a:srgbClr val="232425"/>
                          </a:solidFill>
                          <a:highlight>
                            <a:srgbClr val="FFFFFF"/>
                          </a:highlight>
                        </a:rPr>
                        <a:t>연결규칙: 상위→하위 (단방향)</a:t>
                      </a:r>
                      <a:endParaRPr sz="1200">
                        <a:solidFill>
                          <a:srgbClr val="232425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indent="-304800" lvl="0" marL="647700" rtl="0" algn="l">
                        <a:lnSpc>
                          <a:spcPct val="1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425"/>
                        </a:buClr>
                        <a:buSzPts val="1200"/>
                        <a:buChar char="●"/>
                      </a:pPr>
                      <a:r>
                        <a:rPr lang="ko" sz="1200">
                          <a:solidFill>
                            <a:srgbClr val="232425"/>
                          </a:solidFill>
                          <a:highlight>
                            <a:srgbClr val="FFFFFF"/>
                          </a:highlight>
                        </a:rPr>
                        <a:t>제약: 루트 1개, 부모 1개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2" cy="5103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촌 앱의 관계망 유형별 사용처</a:t>
            </a:r>
            <a:endParaRPr/>
          </a:p>
        </p:txBody>
      </p:sp>
      <p:graphicFrame>
        <p:nvGraphicFramePr>
          <p:cNvPr id="72" name="Google Shape;72;p16"/>
          <p:cNvGraphicFramePr/>
          <p:nvPr/>
        </p:nvGraphicFramePr>
        <p:xfrm>
          <a:off x="311700" y="125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{6F03CDCC-2426-4283-9CAC-58526DB4BE85}</a:tableStyleId>
              </a:tblPr>
              <a:tblGrid>
                <a:gridCol w="4260300"/>
                <a:gridCol w="4260300"/>
              </a:tblGrid>
              <a:tr h="1798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01. 가계도 (Family Tree)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→ 가족 상호인증 (핵심), 촌앱의 보안 인증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02. 일반 네트워크 (Social Network)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Linkedin 과 같은 자유로운 연결 서비스, 수평적인 관계에서 검색이 되는 네트워크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→ 친구모임, 지인, 무작위로 연결가능</a:t>
                      </a:r>
                      <a:endParaRPr sz="1800"/>
                    </a:p>
                  </a:txBody>
                  <a:tcPr marT="91425" marB="91425" marR="91425" marL="91425" anchor="ctr"/>
                </a:tc>
              </a:tr>
              <a:tr h="1798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03. 위계적 수직 관계도 (School Network)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한명의 ‘필수로 연결되어야 하는 인물’과 그와 연결되는 수평적인 관계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→ 학교, 교회, 연예인 팬덤등</a:t>
                      </a:r>
                      <a:endParaRPr sz="1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04. 계층적 수직 관계도 (Organization Chart)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→ 회사</a:t>
                      </a:r>
                      <a:endParaRPr sz="18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 title="제목 없음 (3).png"/>
          <p:cNvPicPr preferRelativeResize="0"/>
          <p:nvPr/>
        </p:nvPicPr>
        <p:blipFill rotWithShape="1">
          <a:blip r:embed="rId3">
            <a:alphaModFix/>
          </a:blip>
          <a:srcRect b="7976" l="6639" r="6915" t="6981"/>
          <a:stretch/>
        </p:blipFill>
        <p:spPr>
          <a:xfrm>
            <a:off x="1810713" y="0"/>
            <a:ext cx="5522575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6762900" y="4103400"/>
            <a:ext cx="2381100" cy="10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**Security Level 과는 별개**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참고 : 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chemeClr val="dk2"/>
                </a:solidFill>
              </a:rPr>
              <a:t>SecLev </a:t>
            </a:r>
            <a:r>
              <a:rPr lang="ko" sz="800">
                <a:solidFill>
                  <a:schemeClr val="dk2"/>
                </a:solidFill>
              </a:rPr>
              <a:t>1  :  Self ID 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chemeClr val="dk2"/>
                </a:solidFill>
              </a:rPr>
              <a:t>SecLev 2 : ChonID  ( 비가족 상호인증 ) 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chemeClr val="dk2"/>
                </a:solidFill>
              </a:rPr>
              <a:t>SecLev 3 : ChonID  (  8촌이내 가족 상호인증 ) 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